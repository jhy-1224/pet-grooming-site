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</p:sp>
      <p:sp>
        <p:nvSpPr>
          <p:cNvPr id="2" name="Accent"/>
          <p:cNvSpPr/>
          <p:nvPr/>
        </p:nvSpPr>
        <p:spPr>
          <a:xfrm>
            <a:off x="411480" y="502920"/>
            <a:ext cx="109728" cy="539496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" name="Grid"/>
          <p:cNvSpPr/>
          <p:nvPr/>
        </p:nvSpPr>
        <p:spPr>
          <a:xfrm>
            <a:off x="7498079" y="640080"/>
            <a:ext cx="3840480" cy="5303520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1F3B58"/>
            </a:solidFill>
          </a:ln>
        </p:spPr>
      </p:sp>
      <p:sp>
        <p:nvSpPr>
          <p:cNvPr id="4" name="Title"/>
          <p:cNvSpPr txBox="1"/>
          <p:nvPr/>
        </p:nvSpPr>
        <p:spPr>
          <a:xfrm>
            <a:off x="685800" y="1143000"/>
            <a:ext cx="6858000" cy="123444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4300" b="1">
                <a:solidFill>
                  <a:srgbClr val="F8FAFC"/>
                </a:solidFill>
                <a:latin typeface="Microsoft YaHei"/>
                <a:ea typeface="Microsoft YaHei"/>
              </a:rPr>
              <a:t>AI 正在从“会聊天”</a:t>
            </a:r>
          </a:p>
          <a:p>
            <a:pPr algn="l"/>
            <a:r>
              <a:rPr lang="zh-CN" sz="4300" b="1">
                <a:solidFill>
                  <a:srgbClr val="F8FAFC"/>
                </a:solidFill>
                <a:latin typeface="Microsoft YaHei"/>
                <a:ea typeface="Microsoft YaHei"/>
              </a:rPr>
              <a:t>走向“会办事”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49808" y="2788920"/>
            <a:ext cx="6126480" cy="82296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1900">
                <a:solidFill>
                  <a:srgbClr val="BAE6FD"/>
                </a:solidFill>
                <a:latin typeface="Microsoft YaHei"/>
                <a:ea typeface="Microsoft YaHei"/>
              </a:rPr>
              <a:t>10 个不同视角，看懂 AI 内容、工具、商业与工作流的新机会</a:t>
            </a:r>
          </a:p>
        </p:txBody>
      </p:sp>
      <p:sp>
        <p:nvSpPr>
          <p:cNvPr id="6" name="Copy"/>
          <p:cNvSpPr txBox="1"/>
          <p:nvPr/>
        </p:nvSpPr>
        <p:spPr>
          <a:xfrm>
            <a:off x="749808" y="3977639"/>
            <a:ext cx="6217920" cy="109728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1700">
                <a:solidFill>
                  <a:srgbClr val="CBD5E1"/>
                </a:solidFill>
                <a:latin typeface="Microsoft YaHei"/>
                <a:ea typeface="Microsoft YaHei"/>
              </a:rPr>
              <a:t>过去一年，AI 的关键词是“大模型”和“生成内容”。</a:t>
            </a:r>
          </a:p>
          <a:p>
            <a:pPr algn="l"/>
            <a:r>
              <a:rPr lang="zh-CN" sz="1700">
                <a:solidFill>
                  <a:srgbClr val="CBD5E1"/>
                </a:solidFill>
                <a:latin typeface="Microsoft YaHei"/>
                <a:ea typeface="Microsoft YaHei"/>
              </a:rPr>
              <a:t>接下来，真正值得关注的是：AI 如何进入真实业务，成为个人和团队的生产力系统。</a:t>
            </a:r>
          </a:p>
        </p:txBody>
      </p:sp>
      <p:sp>
        <p:nvSpPr>
          <p:cNvPr id="7" name="Panel"/>
          <p:cNvSpPr txBox="1"/>
          <p:nvPr/>
        </p:nvSpPr>
        <p:spPr>
          <a:xfrm>
            <a:off x="7818120" y="205740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2600" b="1">
                <a:solidFill>
                  <a:srgbClr val="E0F2FE"/>
                </a:solidFill>
                <a:latin typeface="Microsoft YaHei"/>
                <a:ea typeface="Microsoft YaHei"/>
              </a:rPr>
              <a:t>MODEL</a:t>
            </a:r>
          </a:p>
          <a:p>
            <a:pPr algn="ctr"/>
            <a:r>
              <a:rPr lang="zh-CN" sz="2600" b="1">
                <a:solidFill>
                  <a:srgbClr val="E0F2FE"/>
                </a:solidFill>
                <a:latin typeface="Microsoft YaHei"/>
                <a:ea typeface="Microsoft YaHei"/>
              </a:rPr>
              <a:t>AGENT</a:t>
            </a:r>
          </a:p>
          <a:p>
            <a:pPr algn="ctr"/>
            <a:r>
              <a:rPr lang="zh-CN" sz="2600" b="1">
                <a:solidFill>
                  <a:srgbClr val="E0F2FE"/>
                </a:solidFill>
                <a:latin typeface="Microsoft YaHei"/>
                <a:ea typeface="Microsoft YaHei"/>
              </a:rPr>
              <a:t>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640080" y="50292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3200" b="1">
                <a:solidFill>
                  <a:srgbClr val="111827"/>
                </a:solidFill>
                <a:latin typeface="Microsoft YaHei"/>
                <a:ea typeface="Microsoft YaHei"/>
              </a:rPr>
              <a:t>10 个视角，看懂 AI 的下一阶段</a:t>
            </a:r>
          </a:p>
        </p:txBody>
      </p:sp>
      <p:sp>
        <p:nvSpPr>
          <p:cNvPr id="3" name="Line"/>
          <p:cNvSpPr/>
          <p:nvPr/>
        </p:nvSpPr>
        <p:spPr>
          <a:xfrm>
            <a:off x="713232" y="1417320"/>
            <a:ext cx="10607040" cy="18288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4" name="Left"/>
          <p:cNvSpPr txBox="1"/>
          <p:nvPr/>
        </p:nvSpPr>
        <p:spPr>
          <a:xfrm>
            <a:off x="868680" y="1828800"/>
            <a:ext cx="5029200" cy="329184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1. 大模型价格战</a:t>
            </a:r>
          </a:p>
          <a:p>
            <a:pPr algn="l"/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2. 从聊天机器人到 AI Agent</a:t>
            </a:r>
          </a:p>
          <a:p>
            <a:pPr algn="l"/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3. AI 写作争议</a:t>
            </a:r>
          </a:p>
          <a:p>
            <a:pPr algn="l"/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4. 普通人的 AI 内容工作流</a:t>
            </a:r>
          </a:p>
          <a:p>
            <a:pPr algn="l"/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5. AI 工具商业化</a:t>
            </a:r>
          </a:p>
        </p:txBody>
      </p:sp>
      <p:sp>
        <p:nvSpPr>
          <p:cNvPr id="5" name="Right"/>
          <p:cNvSpPr txBox="1"/>
          <p:nvPr/>
        </p:nvSpPr>
        <p:spPr>
          <a:xfrm>
            <a:off x="6217920" y="1828800"/>
            <a:ext cx="4937760" cy="329184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6. 大模型、智能体、工作流</a:t>
            </a:r>
          </a:p>
          <a:p>
            <a:pPr algn="l"/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7. 未来一年趋势</a:t>
            </a:r>
          </a:p>
          <a:p>
            <a:pPr algn="l"/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8. 小团队如何靠 AI 提效</a:t>
            </a:r>
          </a:p>
          <a:p>
            <a:pPr algn="l"/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9. 任务拆解胜过提示词</a:t>
            </a:r>
          </a:p>
          <a:p>
            <a:pPr algn="l"/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</a:rPr>
              <a:t>10. 从客服到销售的流程改造</a:t>
            </a:r>
          </a:p>
        </p:txBody>
      </p:sp>
      <p:sp>
        <p:nvSpPr>
          <p:cNvPr id="6" name="Mark"/>
          <p:cNvSpPr/>
          <p:nvPr/>
        </p:nvSpPr>
        <p:spPr>
          <a:xfrm>
            <a:off x="10561320" y="411480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94360" y="411480"/>
            <a:ext cx="8961120" cy="73152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</a:rPr>
              <a:t>大模型价格战：AI 创业门槛真的降低了吗？</a:t>
            </a:r>
          </a:p>
        </p:txBody>
      </p:sp>
      <p:sp>
        <p:nvSpPr>
          <p:cNvPr id="3" name="LeftCard"/>
          <p:cNvSpPr/>
          <p:nvPr/>
        </p:nvSpPr>
        <p:spPr>
          <a:xfrm>
            <a:off x="685800" y="1508760"/>
            <a:ext cx="5120640" cy="35661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</p:sp>
      <p:sp>
        <p:nvSpPr>
          <p:cNvPr id="4" name="RightCard"/>
          <p:cNvSpPr/>
          <p:nvPr/>
        </p:nvSpPr>
        <p:spPr>
          <a:xfrm>
            <a:off x="6309360" y="1508760"/>
            <a:ext cx="5120640" cy="35661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</p:sp>
      <p:sp>
        <p:nvSpPr>
          <p:cNvPr id="5" name="LeftText"/>
          <p:cNvSpPr txBox="1"/>
          <p:nvPr/>
        </p:nvSpPr>
        <p:spPr>
          <a:xfrm>
            <a:off x="960120" y="1783080"/>
            <a:ext cx="4572000" cy="265176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2100" b="1">
                <a:solidFill>
                  <a:srgbClr val="075985"/>
                </a:solidFill>
                <a:latin typeface="Microsoft YaHei"/>
                <a:ea typeface="Microsoft YaHei"/>
              </a:rPr>
              <a:t>表面变化</a:t>
            </a:r>
          </a:p>
          <a:p>
            <a:pPr algn="l"/>
            <a:r>
              <a:rPr lang="zh-CN" sz="2100" b="1">
                <a:solidFill>
                  <a:srgbClr val="075985"/>
                </a:solidFill>
                <a:latin typeface="Microsoft YaHei"/>
                <a:ea typeface="Microsoft YaHei"/>
              </a:rPr>
              <a:t>模型调用成本下降，API 更便宜，小团队更容易做出 AI 产品原型。</a:t>
            </a:r>
          </a:p>
        </p:txBody>
      </p:sp>
      <p:sp>
        <p:nvSpPr>
          <p:cNvPr id="6" name="RightText"/>
          <p:cNvSpPr txBox="1"/>
          <p:nvPr/>
        </p:nvSpPr>
        <p:spPr>
          <a:xfrm>
            <a:off x="6583680" y="1783080"/>
            <a:ext cx="4572000" cy="265176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2100" b="1">
                <a:solidFill>
                  <a:srgbClr val="92400E"/>
                </a:solidFill>
                <a:latin typeface="Microsoft YaHei"/>
                <a:ea typeface="Microsoft YaHei"/>
              </a:rPr>
              <a:t>真正变化</a:t>
            </a:r>
          </a:p>
          <a:p>
            <a:pPr algn="l"/>
            <a:r>
              <a:rPr lang="zh-CN" sz="2100" b="1">
                <a:solidFill>
                  <a:srgbClr val="92400E"/>
                </a:solidFill>
                <a:latin typeface="Microsoft YaHei"/>
                <a:ea typeface="Microsoft YaHei"/>
              </a:rPr>
              <a:t>成本下降会带来更多同质化产品，竞争反而更激烈。</a:t>
            </a:r>
          </a:p>
        </p:txBody>
      </p:sp>
      <p:sp>
        <p:nvSpPr>
          <p:cNvPr id="7" name="Bottom"/>
          <p:cNvSpPr txBox="1"/>
          <p:nvPr/>
        </p:nvSpPr>
        <p:spPr>
          <a:xfrm>
            <a:off x="1005840" y="521208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2300" b="1">
                <a:solidFill>
                  <a:srgbClr val="0F172A"/>
                </a:solidFill>
                <a:latin typeface="Microsoft YaHei"/>
                <a:ea typeface="Microsoft YaHei"/>
              </a:rPr>
              <a:t>一句话结论：模型越便宜，越考验产品能力。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94360" y="411480"/>
            <a:ext cx="9784080" cy="68580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2800" b="1">
                <a:solidFill>
                  <a:srgbClr val="111827"/>
                </a:solidFill>
                <a:latin typeface="Microsoft YaHei"/>
                <a:ea typeface="Microsoft YaHei"/>
              </a:rPr>
              <a:t>从“会聊天”到“会办事”：为什么企业开始转向 AI Agent？</a:t>
            </a:r>
          </a:p>
        </p:txBody>
      </p:sp>
      <p:sp>
        <p:nvSpPr>
          <p:cNvPr id="3" name="Chatbot"/>
          <p:cNvSpPr txBox="1"/>
          <p:nvPr/>
        </p:nvSpPr>
        <p:spPr>
          <a:xfrm>
            <a:off x="731520" y="132588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1900" b="1">
                <a:solidFill>
                  <a:srgbClr val="1E40AF"/>
                </a:solidFill>
                <a:latin typeface="Microsoft YaHei"/>
                <a:ea typeface="Microsoft YaHei"/>
              </a:rPr>
              <a:t>Chatbot</a:t>
            </a:r>
          </a:p>
          <a:p>
            <a:pPr algn="ctr"/>
            <a:r>
              <a:rPr lang="zh-CN" sz="1900" b="1">
                <a:solidFill>
                  <a:srgbClr val="1E40AF"/>
                </a:solidFill>
                <a:latin typeface="Microsoft YaHei"/>
                <a:ea typeface="Microsoft YaHei"/>
              </a:rPr>
              <a:t>回答问题 / 生成文本</a:t>
            </a:r>
          </a:p>
        </p:txBody>
      </p:sp>
      <p:sp>
        <p:nvSpPr>
          <p:cNvPr id="4" name="Arrow1"/>
          <p:cNvSpPr/>
          <p:nvPr/>
        </p:nvSpPr>
        <p:spPr>
          <a:xfrm>
            <a:off x="3703320" y="1737360"/>
            <a:ext cx="1097280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</p:sp>
      <p:sp>
        <p:nvSpPr>
          <p:cNvPr id="5" name="Agent"/>
          <p:cNvSpPr txBox="1"/>
          <p:nvPr/>
        </p:nvSpPr>
        <p:spPr>
          <a:xfrm>
            <a:off x="4617720" y="1207008"/>
            <a:ext cx="2926080" cy="105156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1900" b="1">
                <a:solidFill>
                  <a:srgbClr val="047857"/>
                </a:solidFill>
                <a:latin typeface="Microsoft YaHei"/>
                <a:ea typeface="Microsoft YaHei"/>
              </a:rPr>
              <a:t>AI Agent</a:t>
            </a:r>
          </a:p>
          <a:p>
            <a:pPr algn="ctr"/>
            <a:r>
              <a:rPr lang="zh-CN" sz="1900" b="1">
                <a:solidFill>
                  <a:srgbClr val="047857"/>
                </a:solidFill>
                <a:latin typeface="Microsoft YaHei"/>
                <a:ea typeface="Microsoft YaHei"/>
              </a:rPr>
              <a:t>理解目标 / 拆解任务 / 调用工具</a:t>
            </a:r>
          </a:p>
        </p:txBody>
      </p:sp>
      <p:sp>
        <p:nvSpPr>
          <p:cNvPr id="6" name="Arrow2"/>
          <p:cNvSpPr/>
          <p:nvPr/>
        </p:nvSpPr>
        <p:spPr>
          <a:xfrm>
            <a:off x="7635240" y="1737360"/>
            <a:ext cx="1097280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</p:sp>
      <p:sp>
        <p:nvSpPr>
          <p:cNvPr id="7" name="Result"/>
          <p:cNvSpPr txBox="1"/>
          <p:nvPr/>
        </p:nvSpPr>
        <p:spPr>
          <a:xfrm>
            <a:off x="8458200" y="132588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1900" b="1">
                <a:solidFill>
                  <a:srgbClr val="9A3412"/>
                </a:solidFill>
                <a:latin typeface="Microsoft YaHei"/>
                <a:ea typeface="Microsoft YaHei"/>
              </a:rPr>
              <a:t>业务结果</a:t>
            </a:r>
          </a:p>
          <a:p>
            <a:pPr algn="ctr"/>
            <a:r>
              <a:rPr lang="zh-CN" sz="1900" b="1">
                <a:solidFill>
                  <a:srgbClr val="9A3412"/>
                </a:solidFill>
                <a:latin typeface="Microsoft YaHei"/>
                <a:ea typeface="Microsoft YaHei"/>
              </a:rPr>
              <a:t>执行流程 / 反馈结果</a:t>
            </a:r>
          </a:p>
        </p:txBody>
      </p:sp>
      <p:sp>
        <p:nvSpPr>
          <p:cNvPr id="8" name="Band"/>
          <p:cNvSpPr/>
          <p:nvPr/>
        </p:nvSpPr>
        <p:spPr>
          <a:xfrm>
            <a:off x="731520" y="2788920"/>
            <a:ext cx="1060704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9" name="Cases"/>
          <p:cNvSpPr txBox="1"/>
          <p:nvPr/>
        </p:nvSpPr>
        <p:spPr>
          <a:xfrm>
            <a:off x="1005840" y="2999232"/>
            <a:ext cx="9966960" cy="150876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2050">
                <a:solidFill>
                  <a:srgbClr val="334155"/>
                </a:solidFill>
                <a:latin typeface="Microsoft YaHei"/>
                <a:ea typeface="Microsoft YaHei"/>
              </a:rPr>
              <a:t>典型场景：自动整理客户信息｜生成会议纪要和任务清单｜查询数据库并输出报告｜跟进销售线索｜协助客服处理工单</a:t>
            </a:r>
          </a:p>
        </p:txBody>
      </p:sp>
      <p:sp>
        <p:nvSpPr>
          <p:cNvPr id="10" name="Conclusion"/>
          <p:cNvSpPr txBox="1"/>
          <p:nvPr/>
        </p:nvSpPr>
        <p:spPr>
          <a:xfrm>
            <a:off x="1005840" y="525780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2350" b="1">
                <a:solidFill>
                  <a:srgbClr val="111827"/>
                </a:solidFill>
                <a:latin typeface="Microsoft YaHei"/>
                <a:ea typeface="Microsoft YaHei"/>
              </a:rPr>
              <a:t>Chatbot 是“会回答”，Agent 是“能推进”。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</p:sp>
      <p:sp>
        <p:nvSpPr>
          <p:cNvPr id="2" name="Left"/>
          <p:cNvSpPr/>
          <p:nvPr/>
        </p:nvSpPr>
        <p:spPr>
          <a:xfrm>
            <a:off x="0" y="0"/>
            <a:ext cx="6089904" cy="6858000"/>
          </a:xfrm>
          <a:prstGeom prst="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" name="Right"/>
          <p:cNvSpPr/>
          <p:nvPr/>
        </p:nvSpPr>
        <p:spPr>
          <a:xfrm>
            <a:off x="6089904" y="0"/>
            <a:ext cx="6099048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</a:rPr>
              <a:t>AI 写作：效率提升，还是内容趋同？</a:t>
            </a:r>
          </a:p>
        </p:txBody>
      </p:sp>
      <p:sp>
        <p:nvSpPr>
          <p:cNvPr id="5" name="Pro"/>
          <p:cNvSpPr txBox="1"/>
          <p:nvPr/>
        </p:nvSpPr>
        <p:spPr>
          <a:xfrm>
            <a:off x="777240" y="1600200"/>
            <a:ext cx="4846320" cy="201168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2100" b="1">
                <a:solidFill>
                  <a:srgbClr val="1D4ED8"/>
                </a:solidFill>
                <a:latin typeface="Microsoft YaHei"/>
                <a:ea typeface="Microsoft YaHei"/>
              </a:rPr>
              <a:t>效率派认为</a:t>
            </a:r>
          </a:p>
          <a:p>
            <a:pPr algn="l"/>
            <a:r>
              <a:rPr lang="zh-CN" sz="2100" b="1">
                <a:solidFill>
                  <a:srgbClr val="1D4ED8"/>
                </a:solidFill>
                <a:latin typeface="Microsoft YaHei"/>
                <a:ea typeface="Microsoft YaHei"/>
              </a:rPr>
              <a:t>AI 可以快速完成选题、提纲、初稿、改写和标题优化，大幅降低内容生产门槛。</a:t>
            </a:r>
          </a:p>
        </p:txBody>
      </p:sp>
      <p:sp>
        <p:nvSpPr>
          <p:cNvPr id="6" name="Con"/>
          <p:cNvSpPr txBox="1"/>
          <p:nvPr/>
        </p:nvSpPr>
        <p:spPr>
          <a:xfrm>
            <a:off x="6446520" y="1600200"/>
            <a:ext cx="4846320" cy="201168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2100" b="1">
                <a:solidFill>
                  <a:srgbClr val="E5E7EB"/>
                </a:solidFill>
                <a:latin typeface="Microsoft YaHei"/>
                <a:ea typeface="Microsoft YaHei"/>
              </a:rPr>
              <a:t>担忧派认为</a:t>
            </a:r>
          </a:p>
          <a:p>
            <a:pPr algn="l"/>
            <a:r>
              <a:rPr lang="zh-CN" sz="2100" b="1">
                <a:solidFill>
                  <a:srgbClr val="E5E7EB"/>
                </a:solidFill>
                <a:latin typeface="Microsoft YaHei"/>
                <a:ea typeface="Microsoft YaHei"/>
              </a:rPr>
              <a:t>如果所有人都使用相似提示词，内容会变得越来越像，观点越来越平。</a:t>
            </a:r>
          </a:p>
        </p:txBody>
      </p:sp>
      <p:sp>
        <p:nvSpPr>
          <p:cNvPr id="7" name="Middle"/>
          <p:cNvSpPr txBox="1"/>
          <p:nvPr/>
        </p:nvSpPr>
        <p:spPr>
          <a:xfrm>
            <a:off x="4526280" y="361188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1800" b="1">
                <a:solidFill>
                  <a:srgbClr val="F59E0B"/>
                </a:solidFill>
                <a:latin typeface="Microsoft YaHei"/>
                <a:ea typeface="Microsoft YaHei"/>
              </a:rPr>
              <a:t>真正的问题不是 AI 会不会写，</a:t>
            </a:r>
          </a:p>
          <a:p>
            <a:pPr algn="ctr"/>
            <a:r>
              <a:rPr lang="zh-CN" sz="1800" b="1">
                <a:solidFill>
                  <a:srgbClr val="F59E0B"/>
                </a:solidFill>
                <a:latin typeface="Microsoft YaHei"/>
                <a:ea typeface="Microsoft YaHei"/>
              </a:rPr>
              <a:t>而是人有没有判断力、真实经验和编辑能力。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94360" y="4114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3000" b="1">
                <a:solidFill>
                  <a:srgbClr val="111827"/>
                </a:solidFill>
                <a:latin typeface="Microsoft YaHei"/>
                <a:ea typeface="Microsoft YaHei"/>
              </a:rPr>
              <a:t>普通人如何搭建自己的 AI 内容工作流？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58368" y="1143000"/>
            <a:ext cx="7498079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1750">
                <a:solidFill>
                  <a:srgbClr val="64748B"/>
                </a:solidFill>
                <a:latin typeface="Microsoft YaHei"/>
                <a:ea typeface="Microsoft YaHei"/>
              </a:rPr>
              <a:t>不要只问“帮我写一篇文章”，要建立一套稳定流程。</a:t>
            </a:r>
          </a:p>
        </p:txBody>
      </p:sp>
      <p:sp>
        <p:nvSpPr>
          <p:cNvPr id="4" name="Card0"/>
          <p:cNvSpPr/>
          <p:nvPr/>
        </p:nvSpPr>
        <p:spPr>
          <a:xfrm>
            <a:off x="685800" y="192024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5" name="Step0"/>
          <p:cNvSpPr txBox="1"/>
          <p:nvPr/>
        </p:nvSpPr>
        <p:spPr>
          <a:xfrm>
            <a:off x="850392" y="2084832"/>
            <a:ext cx="2880360" cy="73152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1. 找选题</a:t>
            </a:r>
          </a:p>
          <a:p>
            <a:pPr algn="l"/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批量生成不同角度</a:t>
            </a:r>
          </a:p>
        </p:txBody>
      </p:sp>
      <p:sp>
        <p:nvSpPr>
          <p:cNvPr id="6" name="Card1"/>
          <p:cNvSpPr/>
          <p:nvPr/>
        </p:nvSpPr>
        <p:spPr>
          <a:xfrm>
            <a:off x="4480560" y="192024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Step1"/>
          <p:cNvSpPr txBox="1"/>
          <p:nvPr/>
        </p:nvSpPr>
        <p:spPr>
          <a:xfrm>
            <a:off x="4645152" y="2084832"/>
            <a:ext cx="2880360" cy="73152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2. 拆角度</a:t>
            </a:r>
          </a:p>
          <a:p>
            <a:pPr algn="l"/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明确读者和观点</a:t>
            </a:r>
          </a:p>
        </p:txBody>
      </p:sp>
      <p:sp>
        <p:nvSpPr>
          <p:cNvPr id="8" name="Card2"/>
          <p:cNvSpPr/>
          <p:nvPr/>
        </p:nvSpPr>
        <p:spPr>
          <a:xfrm>
            <a:off x="8275320" y="192024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9" name="Step2"/>
          <p:cNvSpPr txBox="1"/>
          <p:nvPr/>
        </p:nvSpPr>
        <p:spPr>
          <a:xfrm>
            <a:off x="8439912" y="2084832"/>
            <a:ext cx="2880360" cy="73152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3. 写大纲</a:t>
            </a:r>
          </a:p>
          <a:p>
            <a:pPr algn="l"/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先搭结构再填内容</a:t>
            </a:r>
          </a:p>
        </p:txBody>
      </p:sp>
      <p:sp>
        <p:nvSpPr>
          <p:cNvPr id="10" name="Card3"/>
          <p:cNvSpPr/>
          <p:nvPr/>
        </p:nvSpPr>
        <p:spPr>
          <a:xfrm>
            <a:off x="685800" y="352044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tep3"/>
          <p:cNvSpPr txBox="1"/>
          <p:nvPr/>
        </p:nvSpPr>
        <p:spPr>
          <a:xfrm>
            <a:off x="850392" y="3685032"/>
            <a:ext cx="2880360" cy="73152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4. 补案例</a:t>
            </a:r>
          </a:p>
          <a:p>
            <a:pPr algn="l"/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加入真实经验</a:t>
            </a:r>
          </a:p>
        </p:txBody>
      </p:sp>
      <p:sp>
        <p:nvSpPr>
          <p:cNvPr id="12" name="Card4"/>
          <p:cNvSpPr/>
          <p:nvPr/>
        </p:nvSpPr>
        <p:spPr>
          <a:xfrm>
            <a:off x="4480560" y="352044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3" name="Step4"/>
          <p:cNvSpPr txBox="1"/>
          <p:nvPr/>
        </p:nvSpPr>
        <p:spPr>
          <a:xfrm>
            <a:off x="4645152" y="3685032"/>
            <a:ext cx="2880360" cy="73152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5. 改标题</a:t>
            </a:r>
          </a:p>
          <a:p>
            <a:pPr algn="l"/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适配不同平台</a:t>
            </a:r>
          </a:p>
        </p:txBody>
      </p:sp>
      <p:sp>
        <p:nvSpPr>
          <p:cNvPr id="14" name="Card5"/>
          <p:cNvSpPr/>
          <p:nvPr/>
        </p:nvSpPr>
        <p:spPr>
          <a:xfrm>
            <a:off x="8275320" y="352044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5" name="Step5"/>
          <p:cNvSpPr txBox="1"/>
          <p:nvPr/>
        </p:nvSpPr>
        <p:spPr>
          <a:xfrm>
            <a:off x="8439912" y="3685032"/>
            <a:ext cx="2880360" cy="73152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6. 复盘反馈</a:t>
            </a:r>
          </a:p>
          <a:p>
            <a:pPr algn="l"/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优化下一轮选题</a:t>
            </a:r>
          </a:p>
        </p:txBody>
      </p:sp>
      <p:sp>
        <p:nvSpPr>
          <p:cNvPr id="16" name="Conclusion"/>
          <p:cNvSpPr txBox="1"/>
          <p:nvPr/>
        </p:nvSpPr>
        <p:spPr>
          <a:xfrm>
            <a:off x="914400" y="539496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2000" b="1">
                <a:solidFill>
                  <a:srgbClr val="0F172A"/>
                </a:solidFill>
                <a:latin typeface="Microsoft YaHei"/>
                <a:ea typeface="Microsoft YaHei"/>
              </a:rPr>
              <a:t>会用 AI 的人，是让它参与每个环节，而不是期待它一次写完。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94360" y="41148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2900" b="1">
                <a:solidFill>
                  <a:srgbClr val="F8FAFC"/>
                </a:solidFill>
                <a:latin typeface="Microsoft YaHei"/>
                <a:ea typeface="Microsoft YaHei"/>
              </a:rPr>
              <a:t>AI 工具从免费到订阅：谁能把用户留到最后？</a:t>
            </a:r>
          </a:p>
        </p:txBody>
      </p:sp>
      <p:sp>
        <p:nvSpPr>
          <p:cNvPr id="3" name="Funnel1"/>
          <p:cNvSpPr/>
          <p:nvPr/>
        </p:nvSpPr>
        <p:spPr>
          <a:xfrm>
            <a:off x="914400" y="1417320"/>
            <a:ext cx="987552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4" name="Funnel2"/>
          <p:cNvSpPr/>
          <p:nvPr/>
        </p:nvSpPr>
        <p:spPr>
          <a:xfrm>
            <a:off x="1554480" y="2057400"/>
            <a:ext cx="85953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" name="Funnel3"/>
          <p:cNvSpPr/>
          <p:nvPr/>
        </p:nvSpPr>
        <p:spPr>
          <a:xfrm>
            <a:off x="2194560" y="2697480"/>
            <a:ext cx="73152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6" name="Funnel4"/>
          <p:cNvSpPr/>
          <p:nvPr/>
        </p:nvSpPr>
        <p:spPr>
          <a:xfrm>
            <a:off x="2834640" y="3337560"/>
            <a:ext cx="60350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7" name="Funnel5"/>
          <p:cNvSpPr/>
          <p:nvPr/>
        </p:nvSpPr>
        <p:spPr>
          <a:xfrm>
            <a:off x="3474720" y="3977639"/>
            <a:ext cx="475488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8" name="Labels"/>
          <p:cNvSpPr txBox="1"/>
          <p:nvPr/>
        </p:nvSpPr>
        <p:spPr>
          <a:xfrm>
            <a:off x="914400" y="1426464"/>
            <a:ext cx="9875520" cy="310896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1800" b="1">
                <a:solidFill>
                  <a:srgbClr val="F8FAFC"/>
                </a:solidFill>
                <a:latin typeface="Microsoft YaHei"/>
                <a:ea typeface="Microsoft YaHei"/>
              </a:rPr>
              <a:t>试用 → 激活 → 高频使用 → 付费 → 续费</a:t>
            </a:r>
          </a:p>
        </p:txBody>
      </p:sp>
      <p:sp>
        <p:nvSpPr>
          <p:cNvPr id="9" name="Metrics"/>
          <p:cNvSpPr txBox="1"/>
          <p:nvPr/>
        </p:nvSpPr>
        <p:spPr>
          <a:xfrm>
            <a:off x="822960" y="489204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2200" b="1">
                <a:solidFill>
                  <a:srgbClr val="BAE6FD"/>
                </a:solidFill>
                <a:latin typeface="Microsoft YaHei"/>
                <a:ea typeface="Microsoft YaHei"/>
              </a:rPr>
              <a:t>能留住用户的 AI 工具：高频使用｜结果可控｜流程嵌入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</a:ln>
        </p:spPr>
      </p:sp>
      <p:sp>
        <p:nvSpPr>
          <p:cNvPr id="2" name="Ink1"/>
          <p:cNvSpPr/>
          <p:nvPr/>
        </p:nvSpPr>
        <p:spPr>
          <a:xfrm>
            <a:off x="548640" y="548640"/>
            <a:ext cx="2377440" cy="237744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" name="Ink2"/>
          <p:cNvSpPr/>
          <p:nvPr/>
        </p:nvSpPr>
        <p:spPr>
          <a:xfrm>
            <a:off x="9326880" y="4297680"/>
            <a:ext cx="2011680" cy="118872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77240" y="50292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2900" b="1">
                <a:solidFill>
                  <a:srgbClr val="111827"/>
                </a:solidFill>
                <a:latin typeface="Microsoft YaHei"/>
                <a:ea typeface="Microsoft YaHei"/>
              </a:rPr>
              <a:t>大模型、智能体、工作流：到底有什么区别？</a:t>
            </a:r>
          </a:p>
        </p:txBody>
      </p:sp>
      <p:sp>
        <p:nvSpPr>
          <p:cNvPr id="5" name="Model"/>
          <p:cNvSpPr txBox="1"/>
          <p:nvPr/>
        </p:nvSpPr>
        <p:spPr>
          <a:xfrm>
            <a:off x="1005840" y="1828800"/>
            <a:ext cx="2926080" cy="137160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1850" b="1">
                <a:solidFill>
                  <a:srgbClr val="374151"/>
                </a:solidFill>
                <a:latin typeface="Microsoft YaHei"/>
                <a:ea typeface="Microsoft YaHei"/>
              </a:rPr>
              <a:t>大模型</a:t>
            </a:r>
          </a:p>
          <a:p>
            <a:pPr algn="ctr"/>
            <a:r>
              <a:rPr lang="zh-CN" sz="1850" b="1">
                <a:solidFill>
                  <a:srgbClr val="374151"/>
                </a:solidFill>
                <a:latin typeface="Microsoft YaHei"/>
                <a:ea typeface="Microsoft YaHei"/>
              </a:rPr>
              <a:t>像“大脑”</a:t>
            </a:r>
          </a:p>
          <a:p>
            <a:pPr algn="ctr"/>
            <a:r>
              <a:rPr lang="zh-CN" sz="1850" b="1">
                <a:solidFill>
                  <a:srgbClr val="374151"/>
                </a:solidFill>
                <a:latin typeface="Microsoft YaHei"/>
                <a:ea typeface="Microsoft YaHei"/>
              </a:rPr>
              <a:t>理解、推理、生成</a:t>
            </a:r>
          </a:p>
        </p:txBody>
      </p:sp>
      <p:sp>
        <p:nvSpPr>
          <p:cNvPr id="6" name="Agent"/>
          <p:cNvSpPr txBox="1"/>
          <p:nvPr/>
        </p:nvSpPr>
        <p:spPr>
          <a:xfrm>
            <a:off x="4617720" y="1828800"/>
            <a:ext cx="2926080" cy="137160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1850" b="1">
                <a:solidFill>
                  <a:srgbClr val="374151"/>
                </a:solidFill>
                <a:latin typeface="Microsoft YaHei"/>
                <a:ea typeface="Microsoft YaHei"/>
              </a:rPr>
              <a:t>智能体</a:t>
            </a:r>
          </a:p>
          <a:p>
            <a:pPr algn="ctr"/>
            <a:r>
              <a:rPr lang="zh-CN" sz="1850" b="1">
                <a:solidFill>
                  <a:srgbClr val="374151"/>
                </a:solidFill>
                <a:latin typeface="Microsoft YaHei"/>
                <a:ea typeface="Microsoft YaHei"/>
              </a:rPr>
              <a:t>像“助手”</a:t>
            </a:r>
          </a:p>
          <a:p>
            <a:pPr algn="ctr"/>
            <a:r>
              <a:rPr lang="zh-CN" sz="1850" b="1">
                <a:solidFill>
                  <a:srgbClr val="374151"/>
                </a:solidFill>
                <a:latin typeface="Microsoft YaHei"/>
                <a:ea typeface="Microsoft YaHei"/>
              </a:rPr>
              <a:t>拆解任务、调用工具</a:t>
            </a:r>
          </a:p>
        </p:txBody>
      </p:sp>
      <p:sp>
        <p:nvSpPr>
          <p:cNvPr id="7" name="Workflow"/>
          <p:cNvSpPr txBox="1"/>
          <p:nvPr/>
        </p:nvSpPr>
        <p:spPr>
          <a:xfrm>
            <a:off x="8183879" y="1828800"/>
            <a:ext cx="2926080" cy="137160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1850" b="1">
                <a:solidFill>
                  <a:srgbClr val="374151"/>
                </a:solidFill>
                <a:latin typeface="Microsoft YaHei"/>
                <a:ea typeface="Microsoft YaHei"/>
              </a:rPr>
              <a:t>工作流</a:t>
            </a:r>
          </a:p>
          <a:p>
            <a:pPr algn="ctr"/>
            <a:r>
              <a:rPr lang="zh-CN" sz="1850" b="1">
                <a:solidFill>
                  <a:srgbClr val="374151"/>
                </a:solidFill>
                <a:latin typeface="Microsoft YaHei"/>
                <a:ea typeface="Microsoft YaHei"/>
              </a:rPr>
              <a:t>像“流程图”</a:t>
            </a:r>
          </a:p>
          <a:p>
            <a:pPr algn="ctr"/>
            <a:r>
              <a:rPr lang="zh-CN" sz="1850" b="1">
                <a:solidFill>
                  <a:srgbClr val="374151"/>
                </a:solidFill>
                <a:latin typeface="Microsoft YaHei"/>
                <a:ea typeface="Microsoft YaHei"/>
              </a:rPr>
              <a:t>稳定、可重复、可管理</a:t>
            </a:r>
          </a:p>
        </p:txBody>
      </p:sp>
      <p:sp>
        <p:nvSpPr>
          <p:cNvPr id="8" name="Line1"/>
          <p:cNvSpPr/>
          <p:nvPr/>
        </p:nvSpPr>
        <p:spPr>
          <a:xfrm>
            <a:off x="3931920" y="2468880"/>
            <a:ext cx="68580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9" name="Line2"/>
          <p:cNvSpPr/>
          <p:nvPr/>
        </p:nvSpPr>
        <p:spPr>
          <a:xfrm>
            <a:off x="7543800" y="2468880"/>
            <a:ext cx="68580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10" name="Conclusion"/>
          <p:cNvSpPr txBox="1"/>
          <p:nvPr/>
        </p:nvSpPr>
        <p:spPr>
          <a:xfrm>
            <a:off x="1051560" y="47091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2150" b="1">
                <a:solidFill>
                  <a:srgbClr val="111827"/>
                </a:solidFill>
                <a:latin typeface="Microsoft YaHei"/>
                <a:ea typeface="Microsoft YaHei"/>
              </a:rPr>
              <a:t>大模型让 AI 会思考，智能体让 AI 会行动，工作流让 AI 能持续交付。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</p:sp>
      <p:sp>
        <p:nvSpPr>
          <p:cNvPr id="2" name="Black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Big"/>
          <p:cNvSpPr txBox="1"/>
          <p:nvPr/>
        </p:nvSpPr>
        <p:spPr>
          <a:xfrm>
            <a:off x="685800" y="594360"/>
            <a:ext cx="10972800" cy="105156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4400" b="1">
                <a:solidFill>
                  <a:srgbClr val="FFFFFF"/>
                </a:solidFill>
                <a:latin typeface="Microsoft YaHei"/>
                <a:ea typeface="Microsoft YaHei"/>
              </a:rPr>
              <a:t>不是提示词，</a:t>
            </a:r>
          </a:p>
          <a:p>
            <a:pPr algn="l"/>
            <a:r>
              <a:rPr lang="zh-CN" sz="4400" b="1">
                <a:solidFill>
                  <a:srgbClr val="FFFFFF"/>
                </a:solidFill>
                <a:latin typeface="Microsoft YaHei"/>
                <a:ea typeface="Microsoft YaHei"/>
              </a:rPr>
              <a:t>而是任务拆解</a:t>
            </a:r>
          </a:p>
        </p:txBody>
      </p:sp>
      <p:sp>
        <p:nvSpPr>
          <p:cNvPr id="4" name="Green"/>
          <p:cNvSpPr/>
          <p:nvPr/>
        </p:nvSpPr>
        <p:spPr>
          <a:xfrm>
            <a:off x="822960" y="2103120"/>
            <a:ext cx="274320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5" name="Wrong"/>
          <p:cNvSpPr txBox="1"/>
          <p:nvPr/>
        </p:nvSpPr>
        <p:spPr>
          <a:xfrm>
            <a:off x="777240" y="246888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2100" b="1">
                <a:solidFill>
                  <a:srgbClr val="D1D5DB"/>
                </a:solidFill>
                <a:latin typeface="Microsoft YaHei"/>
                <a:ea typeface="Microsoft YaHei"/>
              </a:rPr>
              <a:t>常见误区：收藏更多提示词，就等于更会用 AI。</a:t>
            </a:r>
          </a:p>
        </p:txBody>
      </p:sp>
      <p:sp>
        <p:nvSpPr>
          <p:cNvPr id="6" name="Right"/>
          <p:cNvSpPr txBox="1"/>
          <p:nvPr/>
        </p:nvSpPr>
        <p:spPr>
          <a:xfrm>
            <a:off x="5623560" y="2148840"/>
            <a:ext cx="5577840" cy="256032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1800">
                <a:solidFill>
                  <a:srgbClr val="F9FAFB"/>
                </a:solidFill>
                <a:latin typeface="Microsoft YaHei"/>
                <a:ea typeface="Microsoft YaHei"/>
              </a:rPr>
              <a:t>高效拆解：</a:t>
            </a:r>
          </a:p>
          <a:p>
            <a:pPr algn="l"/>
            <a:r>
              <a:rPr lang="zh-CN" sz="1800">
                <a:solidFill>
                  <a:srgbClr val="F9FAFB"/>
                </a:solidFill>
                <a:latin typeface="Microsoft YaHei"/>
                <a:ea typeface="Microsoft YaHei"/>
              </a:rPr>
              <a:t>1. 先列 10 个选题</a:t>
            </a:r>
          </a:p>
          <a:p>
            <a:pPr algn="l"/>
            <a:r>
              <a:rPr lang="zh-CN" sz="1800">
                <a:solidFill>
                  <a:srgbClr val="F9FAFB"/>
                </a:solidFill>
                <a:latin typeface="Microsoft YaHei"/>
                <a:ea typeface="Microsoft YaHei"/>
              </a:rPr>
              <a:t>2. 筛出 3 个角度</a:t>
            </a:r>
          </a:p>
          <a:p>
            <a:pPr algn="l"/>
            <a:r>
              <a:rPr lang="zh-CN" sz="1800">
                <a:solidFill>
                  <a:srgbClr val="F9FAFB"/>
                </a:solidFill>
                <a:latin typeface="Microsoft YaHei"/>
                <a:ea typeface="Microsoft YaHei"/>
              </a:rPr>
              <a:t>3. 写核心观点</a:t>
            </a:r>
          </a:p>
          <a:p>
            <a:pPr algn="l"/>
            <a:r>
              <a:rPr lang="zh-CN" sz="1800">
                <a:solidFill>
                  <a:srgbClr val="F9FAFB"/>
                </a:solidFill>
                <a:latin typeface="Microsoft YaHei"/>
                <a:ea typeface="Microsoft YaHei"/>
              </a:rPr>
              <a:t>4. 生成大纲</a:t>
            </a:r>
          </a:p>
          <a:p>
            <a:pPr algn="l"/>
            <a:r>
              <a:rPr lang="zh-CN" sz="1800">
                <a:solidFill>
                  <a:srgbClr val="F9FAFB"/>
                </a:solidFill>
                <a:latin typeface="Microsoft YaHei"/>
                <a:ea typeface="Microsoft YaHei"/>
              </a:rPr>
              <a:t>5. 补充真实案例</a:t>
            </a:r>
          </a:p>
          <a:p>
            <a:pPr algn="l"/>
            <a:r>
              <a:rPr lang="zh-CN" sz="1800">
                <a:solidFill>
                  <a:srgbClr val="F9FAFB"/>
                </a:solidFill>
                <a:latin typeface="Microsoft YaHei"/>
                <a:ea typeface="Microsoft YaHei"/>
              </a:rPr>
              <a:t>6. 按平台调整表达</a:t>
            </a:r>
          </a:p>
        </p:txBody>
      </p:sp>
      <p:sp>
        <p:nvSpPr>
          <p:cNvPr id="7" name="Conclusion"/>
          <p:cNvSpPr txBox="1"/>
          <p:nvPr/>
        </p:nvSpPr>
        <p:spPr>
          <a:xfrm>
            <a:off x="777240" y="534924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2200" b="1">
                <a:solidFill>
                  <a:srgbClr val="22C55E"/>
                </a:solidFill>
                <a:latin typeface="Microsoft YaHei"/>
                <a:ea typeface="Microsoft YaHei"/>
              </a:rPr>
              <a:t>提示词决定一次回答，任务拆解决定整个结果。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594360" y="41148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l"/>
            <a:r>
              <a:rPr lang="zh-CN" sz="2850" b="1">
                <a:solidFill>
                  <a:srgbClr val="111827"/>
                </a:solidFill>
                <a:latin typeface="Microsoft YaHei"/>
                <a:ea typeface="Microsoft YaHei"/>
              </a:rPr>
              <a:t>从客服到销售：AI Agent 如何改造真实业务流程？</a:t>
            </a:r>
          </a:p>
        </p:txBody>
      </p:sp>
      <p:sp>
        <p:nvSpPr>
          <p:cNvPr id="3" name="Node0"/>
          <p:cNvSpPr/>
          <p:nvPr/>
        </p:nvSpPr>
        <p:spPr>
          <a:xfrm>
            <a:off x="502920" y="1920240"/>
            <a:ext cx="150876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</p:sp>
      <p:sp>
        <p:nvSpPr>
          <p:cNvPr id="4" name="NodeText0"/>
          <p:cNvSpPr txBox="1"/>
          <p:nvPr/>
        </p:nvSpPr>
        <p:spPr>
          <a:xfrm>
            <a:off x="502920" y="208483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1450" b="1">
                <a:solidFill>
                  <a:srgbClr val="111827"/>
                </a:solidFill>
                <a:latin typeface="Microsoft YaHei"/>
                <a:ea typeface="Microsoft YaHei"/>
              </a:rPr>
              <a:t>用户咨询</a:t>
            </a:r>
          </a:p>
        </p:txBody>
      </p:sp>
      <p:sp>
        <p:nvSpPr>
          <p:cNvPr id="5" name="Connector0"/>
          <p:cNvSpPr/>
          <p:nvPr/>
        </p:nvSpPr>
        <p:spPr>
          <a:xfrm>
            <a:off x="2011680" y="2350008"/>
            <a:ext cx="411480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</p:sp>
      <p:sp>
        <p:nvSpPr>
          <p:cNvPr id="6" name="Node1"/>
          <p:cNvSpPr/>
          <p:nvPr/>
        </p:nvSpPr>
        <p:spPr>
          <a:xfrm>
            <a:off x="2423160" y="1920240"/>
            <a:ext cx="150876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</p:sp>
      <p:sp>
        <p:nvSpPr>
          <p:cNvPr id="7" name="NodeText1"/>
          <p:cNvSpPr txBox="1"/>
          <p:nvPr/>
        </p:nvSpPr>
        <p:spPr>
          <a:xfrm>
            <a:off x="2423160" y="208483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1450" b="1">
                <a:solidFill>
                  <a:srgbClr val="111827"/>
                </a:solidFill>
                <a:latin typeface="Microsoft YaHei"/>
                <a:ea typeface="Microsoft YaHei"/>
              </a:rPr>
              <a:t>需求提取</a:t>
            </a:r>
          </a:p>
        </p:txBody>
      </p:sp>
      <p:sp>
        <p:nvSpPr>
          <p:cNvPr id="8" name="Connector1"/>
          <p:cNvSpPr/>
          <p:nvPr/>
        </p:nvSpPr>
        <p:spPr>
          <a:xfrm>
            <a:off x="3931920" y="2350008"/>
            <a:ext cx="411480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</p:sp>
      <p:sp>
        <p:nvSpPr>
          <p:cNvPr id="9" name="Node2"/>
          <p:cNvSpPr/>
          <p:nvPr/>
        </p:nvSpPr>
        <p:spPr>
          <a:xfrm>
            <a:off x="4343400" y="1920240"/>
            <a:ext cx="150876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</p:sp>
      <p:sp>
        <p:nvSpPr>
          <p:cNvPr id="10" name="NodeText2"/>
          <p:cNvSpPr txBox="1"/>
          <p:nvPr/>
        </p:nvSpPr>
        <p:spPr>
          <a:xfrm>
            <a:off x="4343400" y="208483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1450" b="1">
                <a:solidFill>
                  <a:srgbClr val="111827"/>
                </a:solidFill>
                <a:latin typeface="Microsoft YaHei"/>
                <a:ea typeface="Microsoft YaHei"/>
              </a:rPr>
              <a:t>线索分发</a:t>
            </a:r>
          </a:p>
        </p:txBody>
      </p:sp>
      <p:sp>
        <p:nvSpPr>
          <p:cNvPr id="11" name="Connector2"/>
          <p:cNvSpPr/>
          <p:nvPr/>
        </p:nvSpPr>
        <p:spPr>
          <a:xfrm>
            <a:off x="5852160" y="2350008"/>
            <a:ext cx="411480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</p:sp>
      <p:sp>
        <p:nvSpPr>
          <p:cNvPr id="12" name="Node3"/>
          <p:cNvSpPr/>
          <p:nvPr/>
        </p:nvSpPr>
        <p:spPr>
          <a:xfrm>
            <a:off x="6263640" y="1920240"/>
            <a:ext cx="1508760" cy="91440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CBD5E1"/>
            </a:solidFill>
          </a:ln>
        </p:spPr>
      </p:sp>
      <p:sp>
        <p:nvSpPr>
          <p:cNvPr id="13" name="NodeText3"/>
          <p:cNvSpPr txBox="1"/>
          <p:nvPr/>
        </p:nvSpPr>
        <p:spPr>
          <a:xfrm>
            <a:off x="6263640" y="208483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1450" b="1">
                <a:solidFill>
                  <a:srgbClr val="111827"/>
                </a:solidFill>
                <a:latin typeface="Microsoft YaHei"/>
                <a:ea typeface="Microsoft YaHei"/>
              </a:rPr>
              <a:t>话术生成</a:t>
            </a:r>
          </a:p>
        </p:txBody>
      </p:sp>
      <p:sp>
        <p:nvSpPr>
          <p:cNvPr id="14" name="Connector3"/>
          <p:cNvSpPr/>
          <p:nvPr/>
        </p:nvSpPr>
        <p:spPr>
          <a:xfrm>
            <a:off x="7772400" y="2350008"/>
            <a:ext cx="411480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</p:sp>
      <p:sp>
        <p:nvSpPr>
          <p:cNvPr id="15" name="Node4"/>
          <p:cNvSpPr/>
          <p:nvPr/>
        </p:nvSpPr>
        <p:spPr>
          <a:xfrm>
            <a:off x="8183880" y="1920240"/>
            <a:ext cx="1508760" cy="9144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</p:sp>
      <p:sp>
        <p:nvSpPr>
          <p:cNvPr id="16" name="NodeText4"/>
          <p:cNvSpPr txBox="1"/>
          <p:nvPr/>
        </p:nvSpPr>
        <p:spPr>
          <a:xfrm>
            <a:off x="8183880" y="208483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1450" b="1">
                <a:solidFill>
                  <a:srgbClr val="111827"/>
                </a:solidFill>
                <a:latin typeface="Microsoft YaHei"/>
                <a:ea typeface="Microsoft YaHei"/>
              </a:rPr>
              <a:t>销售跟进</a:t>
            </a:r>
          </a:p>
        </p:txBody>
      </p:sp>
      <p:sp>
        <p:nvSpPr>
          <p:cNvPr id="17" name="Connector4"/>
          <p:cNvSpPr/>
          <p:nvPr/>
        </p:nvSpPr>
        <p:spPr>
          <a:xfrm>
            <a:off x="9692640" y="2350008"/>
            <a:ext cx="411480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</p:sp>
      <p:sp>
        <p:nvSpPr>
          <p:cNvPr id="18" name="Node5"/>
          <p:cNvSpPr/>
          <p:nvPr/>
        </p:nvSpPr>
        <p:spPr>
          <a:xfrm>
            <a:off x="10104120" y="1920240"/>
            <a:ext cx="1508760" cy="914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</p:sp>
      <p:sp>
        <p:nvSpPr>
          <p:cNvPr id="19" name="NodeText5"/>
          <p:cNvSpPr txBox="1"/>
          <p:nvPr/>
        </p:nvSpPr>
        <p:spPr>
          <a:xfrm>
            <a:off x="10104120" y="208483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1450" b="1">
                <a:solidFill>
                  <a:srgbClr val="111827"/>
                </a:solidFill>
                <a:latin typeface="Microsoft YaHei"/>
                <a:ea typeface="Microsoft YaHei"/>
              </a:rPr>
              <a:t>结果回流</a:t>
            </a:r>
          </a:p>
        </p:txBody>
      </p:sp>
      <p:sp>
        <p:nvSpPr>
          <p:cNvPr id="20" name="Loop"/>
          <p:cNvSpPr/>
          <p:nvPr/>
        </p:nvSpPr>
        <p:spPr>
          <a:xfrm>
            <a:off x="2834640" y="3794760"/>
            <a:ext cx="658368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</p:sp>
      <p:sp>
        <p:nvSpPr>
          <p:cNvPr id="21" name="Value"/>
          <p:cNvSpPr txBox="1"/>
          <p:nvPr/>
        </p:nvSpPr>
        <p:spPr>
          <a:xfrm>
            <a:off x="2926080" y="3941063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1750" b="1">
                <a:solidFill>
                  <a:srgbClr val="334155"/>
                </a:solidFill>
                <a:latin typeface="Microsoft YaHei"/>
                <a:ea typeface="Microsoft YaHei"/>
              </a:rPr>
              <a:t>价值体现：响应更快｜信息更完整｜跟进更精准｜流程可复盘</a:t>
            </a:r>
          </a:p>
        </p:txBody>
      </p:sp>
      <p:sp>
        <p:nvSpPr>
          <p:cNvPr id="22" name="Conclusion"/>
          <p:cNvSpPr txBox="1"/>
          <p:nvPr/>
        </p:nvSpPr>
        <p:spPr>
          <a:xfrm>
            <a:off x="914400" y="5230368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 lIns="70000" rIns="70000" tIns="50000" bIns="50000"/>
          <a:lstStyle/>
          <a:p>
            <a:pPr algn="ctr"/>
            <a:r>
              <a:rPr lang="zh-CN" sz="2150" b="1">
                <a:solidFill>
                  <a:srgbClr val="111827"/>
                </a:solidFill>
                <a:latin typeface="Microsoft YaHei"/>
                <a:ea typeface="Microsoft YaHei"/>
              </a:rPr>
              <a:t>AI 的最大价值，不是替代某一个岗位，而是重构一整条业务流程。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opics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22C55E"/>
      </a:accent2>
      <a:accent3>
        <a:srgbClr val="F59E0B"/>
      </a:accent3>
      <a:accent4>
        <a:srgbClr val="EF4444"/>
      </a:accent4>
      <a:accent5>
        <a:srgbClr val="8B5CF6"/>
      </a:accent5>
      <a:accent6>
        <a:srgbClr val="06B6D4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AI领域十个不同风格选题</dc:title>
  <dc:creator>Codex</dc:creator>
  <cp:lastModifiedBy>Codex</cp:lastModifiedBy>
  <dcterms:created xsi:type="dcterms:W3CDTF">2026-05-31T15:20:17Z</dcterms:created>
  <dcterms:modified xsi:type="dcterms:W3CDTF">2026-05-31T15:20:17Z</dcterms:modified>
</cp:coreProperties>
</file>